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0700000">
            <a:off x="731520" y="1728216"/>
            <a:ext cx="1463040" cy="2194560"/>
          </a:xfrm>
          <a:prstGeom prst="roundRect">
            <a:avLst/>
          </a:prstGeom>
          <a:solidFill>
            <a:srgbClr val="6B46C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1300000">
            <a:off x="1005840" y="1810512"/>
            <a:ext cx="1463040" cy="2194560"/>
          </a:xfrm>
          <a:prstGeom prst="roundRect">
            <a:avLst/>
          </a:prstGeom>
          <a:solidFill>
            <a:srgbClr val="C4B5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00000">
            <a:off x="1280160" y="1892808"/>
            <a:ext cx="1463040" cy="2194560"/>
          </a:xfrm>
          <a:prstGeom prst="round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PORTFOLIO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Pretendard"/>
              </a:rPr>
              <a:t>AI 타로 웹서비스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83464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4B5FD"/>
                </a:solidFill>
                <a:latin typeface="Pretendard"/>
              </a:rPr>
              <a:t>Tarot × Generative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657600"/>
            <a:ext cx="6858000" cy="182880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84048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E5E7EB"/>
                </a:solidFill>
                <a:latin typeface="Pretendard"/>
              </a:rPr>
              <a:t>Gemini AI 기반 대화형 타로 리딩 플랫폼</a:t>
            </a:r>
          </a:p>
          <a:p>
            <a:pPr algn="l"/>
            <a:r>
              <a:rPr sz="1600" b="0">
                <a:solidFill>
                  <a:srgbClr val="E5E7EB"/>
                </a:solidFill>
                <a:latin typeface="Pretendard"/>
              </a:rPr>
              <a:t>WIZ Framework · Angular · Python · MySQL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8463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일일 · 월간 · 연간 · 시즌 · AI 채팅 5종 리딩 모드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Pretendard"/>
              </a:rPr>
              <a:t>2026.04 · Personal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39496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874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프로젝트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40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서비스 소개와 핵심 가치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39496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74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주요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240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5종 타로 리딩 + AI 채팅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80360"/>
            <a:ext cx="539496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632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017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기술 스택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383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Frontend / Backend / AI / 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880360"/>
            <a:ext cx="539496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017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시스템 아키텍처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383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계층 구조와 데이터 흐름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23360"/>
            <a:ext cx="539496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Pretendar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160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AI 통합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526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Gemini API 활용 전략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023360"/>
            <a:ext cx="539496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062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Pretendar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160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UX / UI 하이라이트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526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Fan-spread · 셔플 애니메이션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66360"/>
            <a:ext cx="539496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3492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Pretendard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303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성능 최적화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5669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AI 호출 4회 → 1회 통합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166360"/>
            <a:ext cx="539496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3492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BBF24"/>
                </a:solidFill>
                <a:latin typeface="Pretendard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303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개발 성과 &amp; 회고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6692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수치와 배운 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01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프로젝트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6858000" cy="4389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Pretendard"/>
              </a:rPr>
              <a:t>Why Tarot +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5E7EB"/>
                </a:solidFill>
                <a:latin typeface="Pretendard"/>
              </a:rPr>
              <a:t>전통적인 타로 카드 해석은 해석자의 경험과 직관에 의존합니다.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Pretendard"/>
              </a:rPr>
              <a:t>Generative AI를 도입하여 누구나 24시간 깊이 있는 타로 리딩을</a:t>
            </a:r>
          </a:p>
          <a:p>
            <a:pPr algn="l"/>
            <a:r>
              <a:rPr sz="1300" b="0">
                <a:solidFill>
                  <a:srgbClr val="E5E7EB"/>
                </a:solidFill>
                <a:latin typeface="Pretendard"/>
              </a:rPr>
              <a:t>경험할 수 있는 대화형 웹서비스를 구축했습니다.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Pretendard"/>
              </a:rPr>
              <a:t>Key Differentiator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·  5종 리딩 모드 (일일·월간·연간·시즌·AI 채팅)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·  Gemini AI 기반 구조화된 운세 해석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·  카드 정/역방향 + 78장 풀덱 시뮬레이션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949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·  히스토리 / 캘린더 / 통계 / 감정 태그 통합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737360"/>
            <a:ext cx="1828800" cy="2103120"/>
          </a:xfrm>
          <a:prstGeom prst="round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1031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C4B5FD"/>
                </a:solidFill>
                <a:latin typeface="Pretendard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리딩 모드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737360"/>
            <a:ext cx="1828800" cy="2103120"/>
          </a:xfrm>
          <a:prstGeom prst="round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1031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BBF24"/>
                </a:solidFill>
                <a:latin typeface="Pretendard"/>
              </a:rPr>
              <a:t>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108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타로 카드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023360"/>
            <a:ext cx="1828800" cy="2103120"/>
          </a:xfrm>
          <a:prstGeom prst="round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43891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C4B5FD"/>
                </a:solidFill>
                <a:latin typeface="Pretendard"/>
              </a:rPr>
              <a:t>60+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394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Devlog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023360"/>
            <a:ext cx="1828800" cy="2103120"/>
          </a:xfrm>
          <a:prstGeom prst="round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438912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1">
                <a:solidFill>
                  <a:srgbClr val="FBBF24"/>
                </a:solidFill>
                <a:latin typeface="Pretendard"/>
              </a:rPr>
              <a:t>1개월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53949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개발 기간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02 ·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주요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657600" cy="2103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45720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일일 타로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오늘의 운세 카드 1장 + AI 구조화 해석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28800"/>
            <a:ext cx="3657600" cy="2103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148840"/>
            <a:ext cx="457200" cy="73152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월간 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346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이번 달 흐름과 조언 카드 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3657600" cy="2103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2148840"/>
            <a:ext cx="45720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연간 타로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8346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분기별 4장 카드로 한 해 운세 통합 분석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3657600" cy="2103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434840"/>
            <a:ext cx="457200" cy="73152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시즌 타로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사용자 고민 기반 맞춤 카드 리딩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4114800"/>
            <a:ext cx="3657600" cy="2103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4434840"/>
            <a:ext cx="45720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617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AI 채팅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1206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루카리오 캐릭터와 대화형 타로 상담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4114800"/>
            <a:ext cx="3657600" cy="2103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0" y="4434840"/>
            <a:ext cx="457200" cy="73152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0" y="4617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히스토리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120640"/>
            <a:ext cx="3200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캘린더·통계·감정 태그·검색 필터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03 ·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기술 스택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97480" cy="457200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057400"/>
            <a:ext cx="365760" cy="64008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Angular (TypeScript)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Pug Template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SCSS · Tailwind utility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RxJS · Service 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Reactive Forms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737360"/>
            <a:ext cx="2697480" cy="457200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03320" y="2057400"/>
            <a:ext cx="36576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240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834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Python 3 · WIZ Framework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Flask (내장)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Peewee 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REST API + Socket.IO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846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Session 인증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37360"/>
            <a:ext cx="2697480" cy="457200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7960" y="2057400"/>
            <a:ext cx="365760" cy="64008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2240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AI /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834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Google Gemini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Structured JSON Prompt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Streaming Chat (SSE)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MySQL (tarot_history)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846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78-card 정적 매핑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1737360"/>
            <a:ext cx="2697480" cy="457200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72600" y="2057400"/>
            <a:ext cx="36576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22402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Infra / Tool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8346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WIZ MCP Tools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Git · Devlog 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38404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Mobile-first 반응형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3434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Hot-reload 개발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846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Build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04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시스템 아키텍처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6858000" cy="7315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1965960"/>
            <a:ext cx="73152" cy="45720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Client (Angular)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99339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Page · Component · Service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069080" y="2542032"/>
            <a:ext cx="365760" cy="164592"/>
          </a:xfrm>
          <a:prstGeom prst="down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697480"/>
            <a:ext cx="6858000" cy="7315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" y="283464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7889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86207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base → user 인증 체인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069080" y="3410712"/>
            <a:ext cx="365760" cy="164592"/>
          </a:xfrm>
          <a:prstGeom prst="down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3566160"/>
            <a:ext cx="6858000" cy="7315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3703320"/>
            <a:ext cx="73152" cy="45720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657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API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73075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api.py · route · Socket.IO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4069080" y="4279392"/>
            <a:ext cx="365760" cy="164592"/>
          </a:xfrm>
          <a:prstGeom prst="down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434839"/>
            <a:ext cx="6858000" cy="7315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4571999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526279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Business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599431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Struct · Aggregate Root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069080" y="5148071"/>
            <a:ext cx="365760" cy="164592"/>
          </a:xfrm>
          <a:prstGeom prst="down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" y="5303520"/>
            <a:ext cx="6858000" cy="7315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" y="5440680"/>
            <a:ext cx="73152" cy="45720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3949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retendard"/>
              </a:rPr>
              <a:t>Data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46811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Peewee ORM · MySQL · Gemini API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828800"/>
            <a:ext cx="3657600" cy="4160520"/>
          </a:xfrm>
          <a:prstGeom prst="roundRect">
            <a:avLst/>
          </a:prstGeom>
          <a:solidFill>
            <a:srgbClr val="6B4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Request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468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1. 사용자 요청 (Angular)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926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2. Controller 인증 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3832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3. api.py 함수 라우팅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8404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4. Struct → ORM 호출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2976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5. Gemini API 호출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754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6. JSON 구조화 응답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212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Pretendard"/>
              </a:rPr>
              <a:t>7. UI 렌더링 + 히스토리 저장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05 · AI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Gemini AI 통합 전략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486400" cy="448056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Pretendard"/>
              </a:rPr>
              <a:t>Prompt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·  카드명 + 정/역방향 + 사용자 컨텍스트 주입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·  JSON Schema 강제로 응답 구조화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·  past / present / future / advice 4단 분리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Pretendard"/>
              </a:rPr>
              <a:t>·  대화형 채팅: 시스템 페르소나 + 멀티턴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Pretendard"/>
              </a:rPr>
              <a:t>Response Format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074920"/>
            <a:ext cx="5029200" cy="1051560"/>
          </a:xfrm>
          <a:prstGeom prst="round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1663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4B5FD"/>
                </a:solidFill>
                <a:latin typeface="Consolas"/>
              </a:rPr>
              <a:t>{ "summary": "...",</a:t>
            </a:r>
          </a:p>
          <a:p>
            <a:pPr algn="l"/>
            <a:r>
              <a:rPr sz="1100" b="0">
                <a:solidFill>
                  <a:srgbClr val="C4B5FD"/>
                </a:solidFill>
                <a:latin typeface="Consolas"/>
              </a:rPr>
              <a:t>  "advice": "...",</a:t>
            </a:r>
          </a:p>
          <a:p>
            <a:pPr algn="l"/>
            <a:r>
              <a:rPr sz="1100" b="0">
                <a:solidFill>
                  <a:srgbClr val="C4B5FD"/>
                </a:solidFill>
                <a:latin typeface="Consolas"/>
              </a:rPr>
              <a:t>  "keywords": ["...", "..."] 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37360"/>
            <a:ext cx="5303520" cy="448056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920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Pretendard"/>
              </a:rPr>
              <a:t>성능 최적화 사례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468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retendard"/>
              </a:rPr>
              <a:t>연간 타로 AI 호출 통합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926080"/>
            <a:ext cx="4754880" cy="822960"/>
          </a:xfrm>
          <a:prstGeom prst="roundRect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3017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461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retendard"/>
              </a:rPr>
              <a:t>분기별 4회 API 호출 → ~28초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3931920"/>
            <a:ext cx="4754880" cy="822960"/>
          </a:xfrm>
          <a:prstGeom prst="round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023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25196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1회 통합 호출 → ~7초 (75% ↓)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93776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단일 프롬프트로 4분기 동시 분석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토큰 사용량 절감 + UX 체감 속도 향상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AI 응답 일관성도 함께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06 · UX /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사용자 경험 디자인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9496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48840"/>
            <a:ext cx="45720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Fan-Spread Picker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78장 카드를 부채꼴로 펼쳐 직관적 선택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Hover 애니메이션으로 카드 강조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539496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148840"/>
            <a:ext cx="457200" cy="73152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Shuffle Animation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셔플 애니메이션으로 의식적 몰입감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순차 펼치기로 자연스러운 흐름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23360"/>
            <a:ext cx="539496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343400"/>
            <a:ext cx="457200" cy="731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Mobile-First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토스 스타일 반응형 디자인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네비게이션 심플화 · 단일 컬럼 최적화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023360"/>
            <a:ext cx="539496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4343400"/>
            <a:ext cx="457200" cy="73152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526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Pretendard"/>
              </a:rPr>
              <a:t>Theme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07492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보라색 그라디언트 + 골드 액센트</a:t>
            </a:r>
          </a:p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신비로운 분위기의 일관된 톤앤매너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07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주요 트러블슈팅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7280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AI 응답 미표시 버그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562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Problem  JSON 파싱 실패로 결과 화면 공백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240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Solution  응답 스키마 강제 + fallback 키 매핑으로 해결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39"/>
            <a:ext cx="1097280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7179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타로 API 500 에러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5351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Problem  카드명 ↔ 이미지 매핑 불일치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33755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Solution  DB 동적 매핑을 정적 리스트로 통일하여 안정화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31920"/>
            <a:ext cx="1097280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AI 호출 타임아웃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05079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Problem  분기별 4회 호출로 평균 28초 대기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434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Solution  단일 프롬프트 통합 호출로 75% 속도 개선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10972800" cy="96012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Pretendard"/>
              </a:rPr>
              <a:t>Controller 캐시 이슈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514807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5E7EB"/>
                </a:solidFill>
                <a:latin typeface="Pretendard"/>
              </a:rPr>
              <a:t>Problem  인증 컨트롤러 변경이 반영되지 않음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5532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Pretendard"/>
              </a:rPr>
              <a:t>Solution  member.py로 분리하여 캐시 우회 + 클린 빌드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08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개발 성과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52044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BBF24"/>
                </a:solidFill>
                <a:latin typeface="Pretendard"/>
              </a:rPr>
              <a:t>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AI 응답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속도 개선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52044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4884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C4B5FD"/>
                </a:solidFill>
                <a:latin typeface="Pretendard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6324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구현 페이지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(Angular App)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28800"/>
            <a:ext cx="352044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4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BBF24"/>
                </a:solidFill>
                <a:latin typeface="Pretendard"/>
              </a:rPr>
              <a:t>60+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6324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Devlog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작업 이력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352044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40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C4B5FD"/>
                </a:solidFill>
                <a:latin typeface="Pretendar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타로 리딩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모드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023360"/>
            <a:ext cx="352044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434340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BBF24"/>
                </a:solidFill>
                <a:latin typeface="Pretendard"/>
              </a:rPr>
              <a:t>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2578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타로 카드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풀덱 지원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4023360"/>
            <a:ext cx="3520440" cy="201168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34340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C4B5FD"/>
                </a:solidFill>
                <a:latin typeface="Pretendard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5257800"/>
            <a:ext cx="3520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모바일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Pretendard"/>
              </a:rPr>
              <a:t>반응형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73152" cy="4572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BF24"/>
                </a:solidFill>
                <a:latin typeface="Pretendard"/>
              </a:rPr>
              <a:t>09 · RETROSPECTIVE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Pretendard"/>
              </a:rPr>
              <a:t>회고 &amp; 배운 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80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611880" cy="448056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36576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Learned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Generative AI 프로덕션 통합 노하우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프롬프트 엔지니어링과 응답 구조화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WIZ 프레임워크 풀스택 흐름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Devlog 기반 체계적 작업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611880" cy="448056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2103120"/>
            <a:ext cx="365760" cy="64008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Improved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926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AI 호출 비용·속도 트레이드오프 인식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566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모바일 우선 반응형 설계 역량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06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ORM·세션·인증 체인 설계 패턴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846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사용자 피드백 기반 빠른 이터레이션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1828800"/>
            <a:ext cx="3611880" cy="4480560"/>
          </a:xfrm>
          <a:prstGeom prst="roundRect">
            <a:avLst/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79" y="2103120"/>
            <a:ext cx="365760" cy="6400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9" y="2286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Pretendard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9" y="2926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타로 해석 RAG 도입 (전문 서적 기반)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9" y="35661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유저 다이어리 + 감정 분석 연동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9" y="4206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PWA 설치형 모바일 앱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9" y="4846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5E7EB"/>
                </a:solidFill>
                <a:latin typeface="Pretendard"/>
              </a:rPr>
              <a:t>·  다국어(영문/일문)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Pretendard"/>
              </a:rPr>
              <a:t>AI Tarot Web Service · Portfolio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A3AF"/>
                </a:solidFill>
                <a:latin typeface="Pretendard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000000">
            <a:off x="3200400" y="1188720"/>
            <a:ext cx="1645920" cy="2377440"/>
          </a:xfrm>
          <a:prstGeom prst="roundRect">
            <a:avLst/>
          </a:prstGeom>
          <a:solidFill>
            <a:srgbClr val="6B46C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188720"/>
            <a:ext cx="1645920" cy="2377440"/>
          </a:xfrm>
          <a:prstGeom prst="roundRect">
            <a:avLst/>
          </a:prstGeom>
          <a:solidFill>
            <a:srgbClr val="FBBF2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600000">
            <a:off x="6858000" y="1188720"/>
            <a:ext cx="1645920" cy="2377440"/>
          </a:xfrm>
          <a:prstGeom prst="roundRect">
            <a:avLst/>
          </a:prstGeom>
          <a:solidFill>
            <a:srgbClr val="C4B5F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Pretendard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4B5FD"/>
                </a:solidFill>
                <a:latin typeface="Pretendard"/>
              </a:rPr>
              <a:t>AI 타로 웹서비스 · Portfolio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BBF24"/>
                </a:solidFill>
                <a:latin typeface="Pretendard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